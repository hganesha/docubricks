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2A4A9E"/>
          </a:solidFill>
          <a:ln/>
        </p:spPr>
      </p:sp>
      <p:sp>
        <p:nvSpPr>
          <p:cNvPr id="4" name="Shape 2"/>
          <p:cNvSpPr/>
          <p:nvPr/>
        </p:nvSpPr>
        <p:spPr>
          <a:xfrm>
            <a:off x="7863840" y="0"/>
            <a:ext cx="1280160" cy="5143500"/>
          </a:xfrm>
          <a:prstGeom prst="rect">
            <a:avLst/>
          </a:prstGeom>
          <a:solidFill>
            <a:srgbClr val="23358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DocuBricks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Intelligence, Natively on Databricks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971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Regulated Industries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766560" y="1280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Market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766560" y="16916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$91B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6766560" y="2377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2034 · 26% CAGR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0" y="2834640"/>
            <a:ext cx="1828800" cy="0"/>
          </a:xfrm>
          <a:prstGeom prst="line">
            <a:avLst/>
          </a:prstGeom>
          <a:noFill/>
          <a:ln w="12700">
            <a:solidFill>
              <a:srgbClr val="4A6A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29260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native Databricks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competitor today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 · 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Enterprises in regulated industries lose billions annually to manual document processing — DocuBricks eliminates that cost.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1783080"/>
            <a:ext cx="274320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783080"/>
            <a:ext cx="27432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90195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2377440"/>
            <a:ext cx="2468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industries process millions of unstructured documents — mortgage apps, KYC forms, AML reports — consuming 40–60% of analyst time on manual extraction, with high error rates and no audit trail.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0" y="1783080"/>
            <a:ext cx="274320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783080"/>
            <a:ext cx="27432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90195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37560" y="2377440"/>
            <a:ext cx="2468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DocuBricks deploys a Databricks-native pipeline: ingest → parse → classify → extract → validate → serve. Schema packs encode 30+ document types with regulatory alignment baked in.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26480" y="1783080"/>
            <a:ext cx="274320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783080"/>
            <a:ext cx="27432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190195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63640" y="2377440"/>
            <a:ext cx="2468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$10.6B IDP market growing to $91B by 2034 (26% CAGR) with no direct competitor combining full-stack IDP + industry schemas + Genie + Lakebase in the Databricks Marketplace today.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 bottom line: First-mover advantage on Databricks Marketplace is available today. Schema library = defensible moat.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$91B market with no Databricks-native IDP leader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 rot="16200000">
            <a:off x="0" y="1463040"/>
            <a:ext cx="365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 ($B)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3908005"/>
            <a:ext cx="640080" cy="29823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3615397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$10.6B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42519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463040" y="3733566"/>
            <a:ext cx="640080" cy="472674"/>
          </a:xfrm>
          <a:prstGeom prst="rect">
            <a:avLst/>
          </a:prstGeom>
          <a:solidFill>
            <a:srgbClr val="2A4A9E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344095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$16.8B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71600" y="42519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68880" y="3457839"/>
            <a:ext cx="640080" cy="748401"/>
          </a:xfrm>
          <a:prstGeom prst="rect">
            <a:avLst/>
          </a:prstGeom>
          <a:solidFill>
            <a:srgbClr val="2A4A9E"/>
          </a:solidFill>
          <a:ln/>
        </p:spPr>
      </p:sp>
      <p:sp>
        <p:nvSpPr>
          <p:cNvPr id="13" name="Text 11"/>
          <p:cNvSpPr/>
          <p:nvPr/>
        </p:nvSpPr>
        <p:spPr>
          <a:xfrm>
            <a:off x="2377440" y="3165231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$26.6B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77440" y="42519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74720" y="3021740"/>
            <a:ext cx="640080" cy="1184500"/>
          </a:xfrm>
          <a:prstGeom prst="rect">
            <a:avLst/>
          </a:prstGeom>
          <a:solidFill>
            <a:srgbClr val="2A4A9E"/>
          </a:solidFill>
          <a:ln/>
        </p:spPr>
      </p:sp>
      <p:sp>
        <p:nvSpPr>
          <p:cNvPr id="16" name="Text 14"/>
          <p:cNvSpPr/>
          <p:nvPr/>
        </p:nvSpPr>
        <p:spPr>
          <a:xfrm>
            <a:off x="3383280" y="27291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$42.1B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83280" y="42519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2031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480560" y="1645920"/>
            <a:ext cx="640080" cy="2560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4389120" y="13533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$91B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389120" y="42519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2034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4206240"/>
            <a:ext cx="54864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60720" y="914400"/>
            <a:ext cx="3108960" cy="1645920"/>
          </a:xfrm>
          <a:prstGeom prst="rect">
            <a:avLst/>
          </a:prstGeom>
          <a:solidFill>
            <a:srgbClr val="1C2B5E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852160" y="10058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26% CAGR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5852160" y="1645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2025–2034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760720" y="2743200"/>
            <a:ext cx="73152" cy="411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0" y="27432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Services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43600" y="297180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Mortgage, KYC, AML — $3.2B TAM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760720" y="3337560"/>
            <a:ext cx="73152" cy="411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0" y="33375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943600" y="35661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EOB, Prior Auth — $2.1B TAM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760720" y="3931920"/>
            <a:ext cx="73152" cy="411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2" name="Text 30"/>
          <p:cNvSpPr/>
          <p:nvPr/>
        </p:nvSpPr>
        <p:spPr>
          <a:xfrm>
            <a:off x="5943600" y="393192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943600" y="416052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Contracts, NDAs — $1.4B TAM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Regulated industries are drowning in unstructured documents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554480"/>
            <a:ext cx="21031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554480"/>
            <a:ext cx="210312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691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40–60%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11480" y="21945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analyst time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 on manual extraction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51760" y="1554480"/>
            <a:ext cx="21031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51760" y="1554480"/>
            <a:ext cx="210312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0" y="1691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3–7%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743200" y="21945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error rate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manual data entry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3017520"/>
            <a:ext cx="21031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3017520"/>
            <a:ext cx="210312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31546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 days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11480" y="36576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mortgage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cycle today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651760" y="3017520"/>
            <a:ext cx="21031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651760" y="3017520"/>
            <a:ext cx="210312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0" y="31546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2743200" y="36576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legacy IDP tools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37760" y="1463040"/>
            <a:ext cx="3931920" cy="3383280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22" name="Text 20"/>
          <p:cNvSpPr/>
          <p:nvPr/>
        </p:nvSpPr>
        <p:spPr>
          <a:xfrm>
            <a:off x="5120640" y="1600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Structural Gap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120640" y="20574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OCR tools lack regulatory schema awareness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20640" y="253288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IDP vendors don't integrate with Lakehouse governance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20640" y="300837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Python pipelines are brittle and untested at scale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20640" y="3483864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lineage trail means compliance audits are manual and costly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20640" y="395935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shops must stitch together 4–6 tools to replicate what DocuBricks ships as one bundle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 any document into governed, queryable data — in minutes, not months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1463040"/>
            <a:ext cx="1298448" cy="210312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463040"/>
            <a:ext cx="1298448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572768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965960"/>
            <a:ext cx="12070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Loader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SHA-256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527048" y="2487168"/>
            <a:ext cx="182880" cy="0"/>
          </a:xfrm>
          <a:prstGeom prst="line">
            <a:avLst/>
          </a:prstGeom>
          <a:noFill/>
          <a:ln w="25400">
            <a:solidFill>
              <a:srgbClr val="BBCC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09928" y="1463040"/>
            <a:ext cx="1298448" cy="2103120"/>
          </a:xfrm>
          <a:prstGeom prst="rect">
            <a:avLst/>
          </a:prstGeom>
          <a:solidFill>
            <a:srgbClr val="F0F4FC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709928" y="1463040"/>
            <a:ext cx="1298448" cy="54864"/>
          </a:xfrm>
          <a:prstGeom prst="rect">
            <a:avLst/>
          </a:prstGeom>
          <a:solidFill>
            <a:srgbClr val="2A4A9E"/>
          </a:solidFill>
          <a:ln/>
        </p:spPr>
      </p:sp>
      <p:sp>
        <p:nvSpPr>
          <p:cNvPr id="12" name="Text 10"/>
          <p:cNvSpPr/>
          <p:nvPr/>
        </p:nvSpPr>
        <p:spPr>
          <a:xfrm>
            <a:off x="1755648" y="1572768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755648" y="1965960"/>
            <a:ext cx="12070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ai_parse_document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(Foundation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API)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008376" y="2487168"/>
            <a:ext cx="182880" cy="0"/>
          </a:xfrm>
          <a:prstGeom prst="line">
            <a:avLst/>
          </a:prstGeom>
          <a:noFill/>
          <a:ln w="25400">
            <a:solidFill>
              <a:srgbClr val="BBCC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91256" y="1463040"/>
            <a:ext cx="1298448" cy="2103120"/>
          </a:xfrm>
          <a:prstGeom prst="rect">
            <a:avLst/>
          </a:prstGeom>
          <a:solidFill>
            <a:srgbClr val="F0F4FC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91256" y="1463040"/>
            <a:ext cx="1298448" cy="54864"/>
          </a:xfrm>
          <a:prstGeom prst="rect">
            <a:avLst/>
          </a:prstGeom>
          <a:solidFill>
            <a:srgbClr val="2A4A9E"/>
          </a:solidFill>
          <a:ln/>
        </p:spPr>
      </p:sp>
      <p:sp>
        <p:nvSpPr>
          <p:cNvPr id="17" name="Text 15"/>
          <p:cNvSpPr/>
          <p:nvPr/>
        </p:nvSpPr>
        <p:spPr>
          <a:xfrm>
            <a:off x="3236976" y="1572768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36976" y="1965960"/>
            <a:ext cx="12070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ai_classify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doctype routing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489704" y="2487168"/>
            <a:ext cx="182880" cy="0"/>
          </a:xfrm>
          <a:prstGeom prst="line">
            <a:avLst/>
          </a:prstGeom>
          <a:noFill/>
          <a:ln w="25400">
            <a:solidFill>
              <a:srgbClr val="BBCC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72584" y="1463040"/>
            <a:ext cx="1298448" cy="2103120"/>
          </a:xfrm>
          <a:prstGeom prst="rect">
            <a:avLst/>
          </a:prstGeom>
          <a:solidFill>
            <a:srgbClr val="F0F4FC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72584" y="1463040"/>
            <a:ext cx="1298448" cy="54864"/>
          </a:xfrm>
          <a:prstGeom prst="rect">
            <a:avLst/>
          </a:prstGeom>
          <a:solidFill>
            <a:srgbClr val="2A4A9E"/>
          </a:solidFill>
          <a:ln/>
        </p:spPr>
      </p:sp>
      <p:sp>
        <p:nvSpPr>
          <p:cNvPr id="22" name="Text 20"/>
          <p:cNvSpPr/>
          <p:nvPr/>
        </p:nvSpPr>
        <p:spPr>
          <a:xfrm>
            <a:off x="4718304" y="1572768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18304" y="1965960"/>
            <a:ext cx="12070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ai_extract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schema-bound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capture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71032" y="2487168"/>
            <a:ext cx="182880" cy="0"/>
          </a:xfrm>
          <a:prstGeom prst="line">
            <a:avLst/>
          </a:prstGeom>
          <a:noFill/>
          <a:ln w="25400">
            <a:solidFill>
              <a:srgbClr val="BBCC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53912" y="1463040"/>
            <a:ext cx="1298448" cy="2103120"/>
          </a:xfrm>
          <a:prstGeom prst="rect">
            <a:avLst/>
          </a:prstGeom>
          <a:solidFill>
            <a:srgbClr val="F0F4FC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53912" y="1463040"/>
            <a:ext cx="1298448" cy="54864"/>
          </a:xfrm>
          <a:prstGeom prst="rect">
            <a:avLst/>
          </a:prstGeom>
          <a:solidFill>
            <a:srgbClr val="2A4A9E"/>
          </a:solidFill>
          <a:ln/>
        </p:spPr>
      </p:sp>
      <p:sp>
        <p:nvSpPr>
          <p:cNvPr id="27" name="Text 25"/>
          <p:cNvSpPr/>
          <p:nvPr/>
        </p:nvSpPr>
        <p:spPr>
          <a:xfrm>
            <a:off x="6199632" y="1572768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99632" y="1965960"/>
            <a:ext cx="12070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DLT expectations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quarantine 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452360" y="2487168"/>
            <a:ext cx="182880" cy="0"/>
          </a:xfrm>
          <a:prstGeom prst="line">
            <a:avLst/>
          </a:prstGeom>
          <a:noFill/>
          <a:ln w="25400">
            <a:solidFill>
              <a:srgbClr val="BBCC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35240" y="1463040"/>
            <a:ext cx="1298448" cy="2103120"/>
          </a:xfrm>
          <a:prstGeom prst="rect">
            <a:avLst/>
          </a:prstGeom>
          <a:solidFill>
            <a:srgbClr val="E6F9F0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635240" y="1463040"/>
            <a:ext cx="1298448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7680960" y="1572768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680960" y="1965960"/>
            <a:ext cx="12070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Genie / Agents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Review Apps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SQL Warehouse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28600" y="3840480"/>
            <a:ext cx="8686800" cy="1005840"/>
          </a:xfrm>
          <a:prstGeom prst="rect">
            <a:avLst/>
          </a:prstGeom>
          <a:solidFill>
            <a:srgbClr val="1C2B5E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11480" y="3931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get on Day 1: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377440" y="3931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Exactly-once delivery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005072" y="3931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Unity Catalog lineage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632704" y="3931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Human-in-the-loop review queue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260336" y="3931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10-min guided onboarding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USE CASES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Schema packs encode domain logic so teams deploy in hours, not quarters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1463040"/>
            <a:ext cx="274320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463040"/>
            <a:ext cx="274320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" y="1591056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Services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8328" y="201168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Types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2860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Mortgage Application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5603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KYC / CDD Form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8346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AML Suspicious Activity Report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1089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Invoice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8328" y="3474720"/>
            <a:ext cx="2523744" cy="0"/>
          </a:xfrm>
          <a:prstGeom prst="line">
            <a:avLst/>
          </a:prstGeom>
          <a:noFill/>
          <a:ln w="12700">
            <a:solidFill>
              <a:srgbClr val="E0E7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3538728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Alignment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8328" y="379476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CFPB Reg B · FinCEN BSA/AML · SOX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8328" y="4114800"/>
            <a:ext cx="2523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mortgage close from 18 days to &lt; 5. Auto-flag AML anomalies. KYC review queue with full audit trail.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0" y="1463040"/>
            <a:ext cx="274320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1463040"/>
            <a:ext cx="27432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3310128" y="1591056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10128" y="201168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Types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83280" y="22860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EOB / CMS-1500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83280" y="25603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Prior Authorization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83280" y="28346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Clinical Note (SOAP)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83280" y="31089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Lab Report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10128" y="3474720"/>
            <a:ext cx="2523744" cy="0"/>
          </a:xfrm>
          <a:prstGeom prst="line">
            <a:avLst/>
          </a:prstGeom>
          <a:noFill/>
          <a:ln w="12700">
            <a:solidFill>
              <a:srgbClr val="E0E7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10128" y="3538728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Alignment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10128" y="379476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· CMS Billing Rules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10128" y="4114800"/>
            <a:ext cx="2523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 prior auth decisions. Auto-reconcile EOB vs remittance. Unlock clinical note analytics.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72200" y="1463040"/>
            <a:ext cx="274320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72200" y="1463040"/>
            <a:ext cx="27432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6281928" y="1591056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281928" y="201168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Types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55080" y="22860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NDA / MSA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55080" y="25603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Statement of Work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355080" y="28346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Regulatory Submission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355080" y="31089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Court Filing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81928" y="3474720"/>
            <a:ext cx="2523744" cy="0"/>
          </a:xfrm>
          <a:prstGeom prst="line">
            <a:avLst/>
          </a:prstGeom>
          <a:noFill/>
          <a:ln w="12700">
            <a:solidFill>
              <a:srgbClr val="E0E7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81928" y="3538728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Alignment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281928" y="379476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Art. 30 · e-SIGN Act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281928" y="4114800"/>
            <a:ext cx="2523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key obligations, renewal dates, and counterparty risk across thousands of contracts automatically.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DIFFERENTIATORS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structural advantages that compound over time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1463040"/>
            <a:ext cx="4297680" cy="1024128"/>
          </a:xfrm>
          <a:prstGeom prst="rect">
            <a:avLst/>
          </a:prstGeom>
          <a:solidFill>
            <a:srgbClr val="F0F4FC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463040"/>
            <a:ext cx="64008" cy="10241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393192" y="15544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153619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Moat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93192" y="1938528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document types across 6 verticals — each with extraction prompts, validation rules, confidence thresholds, model routing, and golden tests. This library takes years to replicate.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" y="2606040"/>
            <a:ext cx="4297680" cy="1024128"/>
          </a:xfrm>
          <a:prstGeom prst="rect">
            <a:avLst/>
          </a:prstGeom>
          <a:solidFill>
            <a:srgbClr val="F0F4FC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2606040"/>
            <a:ext cx="64008" cy="1024128"/>
          </a:xfrm>
          <a:prstGeom prst="rect">
            <a:avLst/>
          </a:prstGeom>
          <a:solidFill>
            <a:srgbClr val="2A4A9E"/>
          </a:solidFill>
          <a:ln/>
        </p:spPr>
      </p:sp>
      <p:sp>
        <p:nvSpPr>
          <p:cNvPr id="12" name="Text 10"/>
          <p:cNvSpPr/>
          <p:nvPr/>
        </p:nvSpPr>
        <p:spPr>
          <a:xfrm>
            <a:off x="393192" y="26974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4A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14400" y="267919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Databricks-Native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93192" y="3081528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DLT, Unity Catalog, Genie, Lakebase, Vector Search, Foundation Model API — zero external dependencies. Data never leaves the customer workspace. One bundle deployment.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8600" y="3749040"/>
            <a:ext cx="4297680" cy="1024128"/>
          </a:xfrm>
          <a:prstGeom prst="rect">
            <a:avLst/>
          </a:prstGeom>
          <a:solidFill>
            <a:srgbClr val="F0F4FC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3749040"/>
            <a:ext cx="64008" cy="10241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393192" y="38404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14400" y="382219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Alignment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93192" y="4224528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Schemas are co-designed with CFPB, FinCEN, HIPAA, and GDPR requirements embedded as DLT expectations — not bolted on as afterthoughts.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92040" y="1463040"/>
            <a:ext cx="4297680" cy="1024128"/>
          </a:xfrm>
          <a:prstGeom prst="rect">
            <a:avLst/>
          </a:prstGeom>
          <a:solidFill>
            <a:srgbClr val="F0F4FC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92040" y="1463040"/>
            <a:ext cx="64008" cy="10241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5056632" y="15544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577840" y="153619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56632" y="1938528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Lakebase-backed review queue routes low-confidence extractions to human reviewers. Every decision is audited. Closes the compliance loop no pure-AI tool can close.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92040" y="2606040"/>
            <a:ext cx="4297680" cy="1024128"/>
          </a:xfrm>
          <a:prstGeom prst="rect">
            <a:avLst/>
          </a:prstGeom>
          <a:solidFill>
            <a:srgbClr val="F0F4FC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92040" y="2606040"/>
            <a:ext cx="64008" cy="1024128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27" name="Text 25"/>
          <p:cNvSpPr/>
          <p:nvPr/>
        </p:nvSpPr>
        <p:spPr>
          <a:xfrm>
            <a:off x="5056632" y="26974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333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577840" y="267919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10-Minute Onboarding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56632" y="3081528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onboarding wizard deploys the full stack — secrets, vertical selection, first document upload, smoke test — in under 10 minutes. No Databricks expert required.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92040" y="3749040"/>
            <a:ext cx="4023360" cy="1097280"/>
          </a:xfrm>
          <a:prstGeom prst="rect">
            <a:avLst/>
          </a:prstGeom>
          <a:solidFill>
            <a:srgbClr val="1C2B5E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029200" y="384048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direct competitor in Databricks Marketplace combines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IDP + industry schemas + Genie + Lakebase today.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8-layer Databricks-native stack — designed for robustness, performance, and durability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63040"/>
            <a:ext cx="512064" cy="7498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310896" y="164592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51790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Connectivity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184708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Lakeflow Connect · Autoloader file-notification mode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331720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331720"/>
            <a:ext cx="512064" cy="7498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310896" y="25146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238658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(Bronze)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68680" y="271576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DLT Bronze · SHA-256 doc_id · quarantine on corrupt/empty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512064" cy="749808"/>
          </a:xfrm>
          <a:prstGeom prst="rect">
            <a:avLst/>
          </a:prstGeom>
          <a:solidFill>
            <a:srgbClr val="2A4A9E"/>
          </a:solidFill>
          <a:ln/>
        </p:spPr>
      </p:sp>
      <p:sp>
        <p:nvSpPr>
          <p:cNvPr id="17" name="Text 15"/>
          <p:cNvSpPr/>
          <p:nvPr/>
        </p:nvSpPr>
        <p:spPr>
          <a:xfrm>
            <a:off x="310896" y="33832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325526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(Silver)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68680" y="35844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ai_parse_document → ai_classify → ai_extract (schema-bound)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4069080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4069080"/>
            <a:ext cx="512064" cy="7498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310896" y="425196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" y="412394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68680" y="445312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DLT expectations · expect_or_drop / expect_or_fail · quarantine tables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1463040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1463040"/>
            <a:ext cx="512064" cy="7498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4882896" y="164592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40680" y="151790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Storage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40680" y="184708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Lake (liquid clustering, CDF, time travel) · Unity Catalog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2331720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2331720"/>
            <a:ext cx="512064" cy="7498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4882896" y="25146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40680" y="238658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Registry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440680" y="271576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Lakebase PostgreSQL · document_registry · review_queue · processing_jobs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46320" y="3200400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46320" y="3200400"/>
            <a:ext cx="512064" cy="7498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7" name="Text 35"/>
          <p:cNvSpPr/>
          <p:nvPr/>
        </p:nvSpPr>
        <p:spPr>
          <a:xfrm>
            <a:off x="4882896" y="33832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L6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440680" y="325526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&amp; Intelligence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440680" y="35844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Genie per vertical · Vector Search (BGE) · Agent Bricks · Model Serving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46320" y="4069080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46320" y="4069080"/>
            <a:ext cx="512064" cy="7498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2" name="Text 40"/>
          <p:cNvSpPr/>
          <p:nvPr/>
        </p:nvSpPr>
        <p:spPr>
          <a:xfrm>
            <a:off x="4882896" y="425196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L7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440680" y="412394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Layer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5440680" y="445312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Apps: Onboarding · Portal · Review · Admin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Designed for data teams, not just Databricks experts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640080" cy="6400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44752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371600" y="1737360"/>
            <a:ext cx="621792" cy="0"/>
          </a:xfrm>
          <a:prstGeom prst="line">
            <a:avLst/>
          </a:prstGeom>
          <a:noFill/>
          <a:ln w="25400">
            <a:solidFill>
              <a:srgbClr val="BBCC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217627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Bundle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" y="26517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bundle deploy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 command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50592" y="1417320"/>
            <a:ext cx="640080" cy="640080"/>
          </a:xfrm>
          <a:prstGeom prst="ellipse">
            <a:avLst/>
          </a:prstGeom>
          <a:solidFill>
            <a:srgbClr val="2A4A9E"/>
          </a:solidFill>
          <a:ln/>
        </p:spPr>
      </p:sp>
      <p:sp>
        <p:nvSpPr>
          <p:cNvPr id="11" name="Text 9"/>
          <p:cNvSpPr/>
          <p:nvPr/>
        </p:nvSpPr>
        <p:spPr>
          <a:xfrm>
            <a:off x="2450592" y="1444752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090672" y="1737360"/>
            <a:ext cx="621792" cy="0"/>
          </a:xfrm>
          <a:prstGeom prst="line">
            <a:avLst/>
          </a:prstGeom>
          <a:noFill/>
          <a:ln w="25400">
            <a:solidFill>
              <a:srgbClr val="BBCC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66544" y="217627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Onboarding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Wizard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66544" y="26517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10-minute browser UI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configs secrets + vertical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69664" y="1417320"/>
            <a:ext cx="640080" cy="6400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4169664" y="1444752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809744" y="1737360"/>
            <a:ext cx="621792" cy="0"/>
          </a:xfrm>
          <a:prstGeom prst="line">
            <a:avLst/>
          </a:prstGeom>
          <a:noFill/>
          <a:ln w="25400">
            <a:solidFill>
              <a:srgbClr val="BBCC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85616" y="217627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First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785616" y="26517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&amp; drop PDF/DOCX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the portal app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888736" y="141732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5888736" y="1444752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528816" y="1737360"/>
            <a:ext cx="621792" cy="0"/>
          </a:xfrm>
          <a:prstGeom prst="line">
            <a:avLst/>
          </a:prstGeom>
          <a:noFill/>
          <a:ln w="25400">
            <a:solidFill>
              <a:srgbClr val="BBCC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04688" y="217627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Genie Chat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504688" y="26517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in plain English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Genie data room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607808" y="1417320"/>
            <a:ext cx="640080" cy="6400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6" name="Text 24"/>
          <p:cNvSpPr/>
          <p:nvPr/>
        </p:nvSpPr>
        <p:spPr>
          <a:xfrm>
            <a:off x="7607808" y="1444752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223760" y="217627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23760" y="26517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low-confidence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extractions for approval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33832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Apps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274320" y="3794760"/>
            <a:ext cx="2148840" cy="457200"/>
          </a:xfrm>
          <a:prstGeom prst="rect">
            <a:avLst/>
          </a:prstGeom>
          <a:solidFill>
            <a:srgbClr val="F0F4FC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3794760"/>
            <a:ext cx="64008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2" name="Text 30"/>
          <p:cNvSpPr/>
          <p:nvPr/>
        </p:nvSpPr>
        <p:spPr>
          <a:xfrm>
            <a:off x="438912" y="383133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App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38912" y="403250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setup wizard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606040" y="3794760"/>
            <a:ext cx="2148840" cy="457200"/>
          </a:xfrm>
          <a:prstGeom prst="rect">
            <a:avLst/>
          </a:prstGeom>
          <a:solidFill>
            <a:srgbClr val="F0F4FC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606040" y="3794760"/>
            <a:ext cx="64008" cy="457200"/>
          </a:xfrm>
          <a:prstGeom prst="rect">
            <a:avLst/>
          </a:prstGeom>
          <a:solidFill>
            <a:srgbClr val="2A4A9E"/>
          </a:solidFill>
          <a:ln/>
        </p:spPr>
      </p:sp>
      <p:sp>
        <p:nvSpPr>
          <p:cNvPr id="36" name="Text 34"/>
          <p:cNvSpPr/>
          <p:nvPr/>
        </p:nvSpPr>
        <p:spPr>
          <a:xfrm>
            <a:off x="2770632" y="383133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Portal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770632" y="403250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Upload, status, search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74320" y="4325112"/>
            <a:ext cx="2148840" cy="457200"/>
          </a:xfrm>
          <a:prstGeom prst="rect">
            <a:avLst/>
          </a:prstGeom>
          <a:solidFill>
            <a:srgbClr val="F0F4FC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74320" y="4325112"/>
            <a:ext cx="64008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0" name="Text 38"/>
          <p:cNvSpPr/>
          <p:nvPr/>
        </p:nvSpPr>
        <p:spPr>
          <a:xfrm>
            <a:off x="438912" y="436168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38912" y="456285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reject extractions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606040" y="4325112"/>
            <a:ext cx="2148840" cy="457200"/>
          </a:xfrm>
          <a:prstGeom prst="rect">
            <a:avLst/>
          </a:prstGeom>
          <a:solidFill>
            <a:srgbClr val="F0F4FC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2606040" y="4325112"/>
            <a:ext cx="64008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4" name="Text 42"/>
          <p:cNvSpPr/>
          <p:nvPr/>
        </p:nvSpPr>
        <p:spPr>
          <a:xfrm>
            <a:off x="2770632" y="436168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Console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770632" y="456285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mgmt + analytics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029200" y="3337560"/>
            <a:ext cx="3840480" cy="1508760"/>
          </a:xfrm>
          <a:prstGeom prst="rect">
            <a:avLst/>
          </a:prstGeom>
          <a:solidFill>
            <a:srgbClr val="1C2B5E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5166360" y="345643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&lt; 10 min from deploy to first extraction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166360" y="378561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Databricks expert needed for day-to-day use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166360" y="41148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Natural-language queries via Genie data room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166360" y="444398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Schema customization via admin UI (no SQL required)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&amp; GO-TO-MARKET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Land with Community, expand through schema breadth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1463040"/>
            <a:ext cx="2029968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572768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938528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11480" y="2468880"/>
            <a:ext cx="1664208" cy="0"/>
          </a:xfrm>
          <a:prstGeom prst="line">
            <a:avLst/>
          </a:prstGeom>
          <a:noFill/>
          <a:ln w="12700">
            <a:solidFill>
              <a:srgbClr val="E0E7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578608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1 vertical · 1 tenant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3017520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FS starter schemas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3456432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Apache 2.0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3895344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Community support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441448" y="1463040"/>
            <a:ext cx="2029968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532888" y="1572768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32888" y="1938528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$2,500/mo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2624328" y="2468880"/>
            <a:ext cx="1664208" cy="0"/>
          </a:xfrm>
          <a:prstGeom prst="line">
            <a:avLst/>
          </a:prstGeom>
          <a:noFill/>
          <a:ln w="12700">
            <a:solidFill>
              <a:srgbClr val="E0E7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78608" y="2578608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2 verticals · 5 tenants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578608" y="3017520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Schema customization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578608" y="3456432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Email support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78608" y="3895344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Production packaging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54296" y="1463040"/>
            <a:ext cx="2029968" cy="3200400"/>
          </a:xfrm>
          <a:prstGeom prst="rect">
            <a:avLst/>
          </a:prstGeom>
          <a:solidFill>
            <a:srgbClr val="1C2B5E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54296" y="1463040"/>
            <a:ext cx="2029968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4745736" y="1572768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45736" y="1938528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$8,500/mo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4837176" y="2468880"/>
            <a:ext cx="1664208" cy="0"/>
          </a:xfrm>
          <a:prstGeom prst="line">
            <a:avLst/>
          </a:prstGeom>
          <a:noFill/>
          <a:ln w="12700">
            <a:solidFill>
              <a:srgbClr val="4A6AA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91456" y="2578608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All verticals · unlimited tenants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91456" y="3017520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Agents + Genie + Review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791456" y="3456432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SLA support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91456" y="3895344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Healthcare schema bundle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867144" y="1463040"/>
            <a:ext cx="2029968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958584" y="1572768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58584" y="1938528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7050024" y="2468880"/>
            <a:ext cx="1664208" cy="0"/>
          </a:xfrm>
          <a:prstGeom prst="line">
            <a:avLst/>
          </a:prstGeom>
          <a:noFill/>
          <a:ln w="12700">
            <a:solidFill>
              <a:srgbClr val="E0E7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04304" y="2578608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Private deployment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004304" y="3017520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Custom schema authoring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004304" y="3456432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Dedicated CSM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004304" y="3895344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All verticals + roadmap access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28600" y="4736592"/>
            <a:ext cx="8686800" cy="2560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9" name="Text 37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GTM: 3 FS design-partner banks (Month 0–3) → Marketplace launch → Healthcare / Legal expansion (Month 6–12)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2A4A9E"/>
          </a:solidFill>
          <a:ln/>
        </p:spPr>
      </p:sp>
      <p:sp>
        <p:nvSpPr>
          <p:cNvPr id="4" name="Shape 2"/>
          <p:cNvSpPr/>
          <p:nvPr/>
        </p:nvSpPr>
        <p:spPr>
          <a:xfrm>
            <a:off x="8046720" y="0"/>
            <a:ext cx="1097280" cy="5143500"/>
          </a:xfrm>
          <a:prstGeom prst="rect">
            <a:avLst/>
          </a:prstGeom>
          <a:solidFill>
            <a:srgbClr val="23358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822960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Next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347472" cy="34747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801368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801368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3 FS design-partner banks for Month 0–3 pilot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313432"/>
            <a:ext cx="347472" cy="34747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331720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2331720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Databricks Marketplace seller registration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843784"/>
            <a:ext cx="347472" cy="34747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862072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2862072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bundle on AWS, Azure, and GCP workspaces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3374136"/>
            <a:ext cx="347472" cy="34747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392424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3392424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review with compliance counsel (CFPB, FinCEN)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" y="3904488"/>
            <a:ext cx="347472" cy="34747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922776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922776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Community tier on Marketplace — Day 90 target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4663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sales@docubricks.io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66560" y="100584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$91B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766560" y="15727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by 2034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66560" y="201168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30+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6766560" y="25786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schemas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766560" y="301752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6766560" y="35844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verticals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66560" y="402336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10min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6766560" y="45902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first extraction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DocuBricks</dc:title>
  <dc:subject>PptxGenJS Presentation</dc:subject>
  <dc:creator>PptxGenJS</dc:creator>
  <cp:lastModifiedBy>PptxGenJS</cp:lastModifiedBy>
  <cp:revision>1</cp:revision>
  <dcterms:created xsi:type="dcterms:W3CDTF">2026-06-05T20:54:34Z</dcterms:created>
  <dcterms:modified xsi:type="dcterms:W3CDTF">2026-06-05T20:54:34Z</dcterms:modified>
</cp:coreProperties>
</file>